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We are Team Super Halki.
Today we're presenting Super Halki, an AI-powered solution that can replicate anyone's knowledge and expertise.
Our app creates a digital twin of a person's knowledge base, enabling instant consultations and perspective sharing.
Let me walk you through the background, how it works, and what benefits it brings.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explain the background behind Super Halki.
First, OpenClaw provides universal information access - it allows you to reference various information exactly when you need it.
Second, by leveraging technologies like TiDB for database-powered AI retrieval and Bright Data for live web scraping, AI can fetch any information on demand.
When you combine all of these capabilities, you can actually replicate a person's knowledge digitally. That's the core insight behind Super Halki.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so, we built Super Halki.
Super Halki is your AI Knowledge Twin - it takes someone's public information, expertise, and perspective, and creates a digital version that you can consult anytime.
Think of it as having a personal advisor available 24/7, powered by real data about real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show you how Super Halki works in three simple steps.
Step 1: Share a URL. You simply pass a URL to the AI - this could be someone's blog, LinkedIn profile, or any public content. The AI automatically fetches and processes all the relevant data from that source.
Step 2: Generate SOUL.md. Based on the collected data, the system automatically creates a SOUL.md file. This file captures the person's knowledge, expertise, communication style, and perspective in a structured format.
Step 3: Chat as That Person. Once the SOUL.md is ready, you can start chatting with the AI, and it will respond as if it were that person. It gives you their authentic perspective, using their knowledge and communication style.
Let me show you a quick demo of this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should you use Super Halki? There are two key benefits.
First, Instant Expertise Access. When you need to consult with someone - whether it's a domain expert, a thought leader, or a colleague - you can get first-hand information for simple questions instantly. No need to wait for a meeting or a reply. The AI twin provides immediate answers based on that person's actual knowledge and perspective.
Second, User Perspective Integration. You can incorporate any user's viewpoint directly into your workflow through chat. This means you can quickly gather diverse perspectives, test your ideas against different viewpoints, and make better-informed decisions. It's like having a focus group available at your fingertips.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We are Team Super Halki, and we believe that AI-powered knowledge replication will transform how we access expertise and make decisions.
We'd love to answer any questions you might have about Super Halki, the technology behind it, or our vision for the future.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94560"/>
          </a:solidFill>
          <a:ln/>
        </p:spPr>
      </p:sp>
      <p:sp>
        <p:nvSpPr>
          <p:cNvPr id="3" name="Shape 1"/>
          <p:cNvSpPr/>
          <p:nvPr/>
        </p:nvSpPr>
        <p:spPr>
          <a:xfrm>
            <a:off x="6400800" y="-1371600"/>
            <a:ext cx="4572000" cy="4572000"/>
          </a:xfrm>
          <a:prstGeom prst="ellipse">
            <a:avLst/>
          </a:prstGeom>
          <a:solidFill>
            <a:srgbClr val="16213E"/>
          </a:solidFill>
          <a:ln/>
        </p:spPr>
      </p:sp>
      <p:sp>
        <p:nvSpPr>
          <p:cNvPr id="4" name="Shape 2"/>
          <p:cNvSpPr/>
          <p:nvPr/>
        </p:nvSpPr>
        <p:spPr>
          <a:xfrm>
            <a:off x="7498080" y="2560320"/>
            <a:ext cx="3200400" cy="3200400"/>
          </a:xfrm>
          <a:prstGeom prst="ellipse">
            <a:avLst/>
          </a:prstGeom>
          <a:solidFill>
            <a:srgbClr val="E94560">
              <a:alpha val="20000"/>
            </a:srgbClr>
          </a:solidFill>
          <a:ln/>
        </p:spPr>
      </p:sp>
      <p:sp>
        <p:nvSpPr>
          <p:cNvPr id="5" name="Text 3"/>
          <p:cNvSpPr/>
          <p:nvPr/>
        </p:nvSpPr>
        <p:spPr>
          <a:xfrm>
            <a:off x="731520" y="914400"/>
            <a:ext cx="7315200" cy="1280160"/>
          </a:xfrm>
          <a:prstGeom prst="rect">
            <a:avLst/>
          </a:prstGeom>
          <a:noFill/>
          <a:ln/>
        </p:spPr>
        <p:txBody>
          <a:bodyPr wrap="square" lIns="0" tIns="0" rIns="0" bIns="0" rtlCol="0" anchor="ctr"/>
          <a:lstStyle/>
          <a:p>
            <a:pPr indent="0" marL="0">
              <a:buNone/>
            </a:pPr>
            <a:r>
              <a:rPr lang="en-US" sz="5400" b="1" spc="500" kern="0" dirty="0">
                <a:solidFill>
                  <a:srgbClr val="FFFFFF"/>
                </a:solidFill>
                <a:latin typeface="Trebuchet MS" pitchFamily="34" charset="0"/>
                <a:ea typeface="Trebuchet MS" pitchFamily="34" charset="-122"/>
                <a:cs typeface="Trebuchet MS" pitchFamily="34" charset="-120"/>
              </a:rPr>
              <a:t>SUPER HALKI</a:t>
            </a:r>
            <a:endParaRPr lang="en-US" sz="5400" dirty="0"/>
          </a:p>
        </p:txBody>
      </p:sp>
      <p:sp>
        <p:nvSpPr>
          <p:cNvPr id="6" name="Text 4"/>
          <p:cNvSpPr/>
          <p:nvPr/>
        </p:nvSpPr>
        <p:spPr>
          <a:xfrm>
            <a:off x="731520" y="2286000"/>
            <a:ext cx="6400800" cy="548640"/>
          </a:xfrm>
          <a:prstGeom prst="rect">
            <a:avLst/>
          </a:prstGeom>
          <a:noFill/>
          <a:ln/>
        </p:spPr>
        <p:txBody>
          <a:bodyPr wrap="square" lIns="0" tIns="0" rIns="0" bIns="0" rtlCol="0" anchor="ctr"/>
          <a:lstStyle/>
          <a:p>
            <a:pPr indent="0" marL="0">
              <a:buNone/>
            </a:pPr>
            <a:r>
              <a:rPr lang="en-US" sz="2000" i="1" dirty="0">
                <a:solidFill>
                  <a:srgbClr val="E94560"/>
                </a:solidFill>
                <a:latin typeface="Calibri" pitchFamily="34" charset="0"/>
                <a:ea typeface="Calibri" pitchFamily="34" charset="-122"/>
                <a:cs typeface="Calibri" pitchFamily="34" charset="-120"/>
              </a:rPr>
              <a:t>Replicate Anyone's Knowledge with AI</a:t>
            </a:r>
            <a:endParaRPr lang="en-US" sz="2000" dirty="0"/>
          </a:p>
        </p:txBody>
      </p:sp>
      <p:sp>
        <p:nvSpPr>
          <p:cNvPr id="7" name="Shape 5"/>
          <p:cNvSpPr/>
          <p:nvPr/>
        </p:nvSpPr>
        <p:spPr>
          <a:xfrm>
            <a:off x="731520" y="3017520"/>
            <a:ext cx="2286000" cy="36576"/>
          </a:xfrm>
          <a:prstGeom prst="rect">
            <a:avLst/>
          </a:prstGeom>
          <a:solidFill>
            <a:srgbClr val="E94560"/>
          </a:solidFill>
          <a:ln/>
        </p:spPr>
      </p:sp>
      <p:sp>
        <p:nvSpPr>
          <p:cNvPr id="8" name="Text 6"/>
          <p:cNvSpPr/>
          <p:nvPr/>
        </p:nvSpPr>
        <p:spPr>
          <a:xfrm>
            <a:off x="731520" y="4206240"/>
            <a:ext cx="4572000" cy="365760"/>
          </a:xfrm>
          <a:prstGeom prst="rect">
            <a:avLst/>
          </a:prstGeom>
          <a:noFill/>
          <a:ln/>
        </p:spPr>
        <p:txBody>
          <a:bodyPr wrap="square" lIns="0" tIns="0" rIns="0" bIns="0" rtlCol="0" anchor="ctr"/>
          <a:lstStyle/>
          <a:p>
            <a:pPr indent="0" marL="0">
              <a:buNone/>
            </a:pPr>
            <a:r>
              <a:rPr lang="en-US" sz="1400" dirty="0">
                <a:solidFill>
                  <a:srgbClr val="7C7C8A"/>
                </a:solidFill>
                <a:latin typeface="Calibri" pitchFamily="34" charset="0"/>
                <a:ea typeface="Calibri" pitchFamily="34" charset="-122"/>
                <a:cs typeface="Calibri" pitchFamily="34" charset="-120"/>
              </a:rPr>
              <a:t>Team Super Halki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4560"/>
          </a:solidFill>
          <a:ln/>
        </p:spPr>
      </p:sp>
      <p:sp>
        <p:nvSpPr>
          <p:cNvPr id="3" name="Text 1"/>
          <p:cNvSpPr/>
          <p:nvPr/>
        </p:nvSpPr>
        <p:spPr>
          <a:xfrm>
            <a:off x="731520" y="365760"/>
            <a:ext cx="7315200" cy="640080"/>
          </a:xfrm>
          <a:prstGeom prst="rect">
            <a:avLst/>
          </a:prstGeom>
          <a:noFill/>
          <a:ln/>
        </p:spPr>
        <p:txBody>
          <a:bodyPr wrap="square" lIns="0" tIns="0" rIns="0" bIns="0" rtlCol="0" anchor="ctr"/>
          <a:lstStyle/>
          <a:p>
            <a:pPr indent="0" marL="0">
              <a:buNone/>
            </a:pPr>
            <a:r>
              <a:rPr lang="en-US" sz="3200" b="1" dirty="0">
                <a:solidFill>
                  <a:srgbClr val="1A1A2E"/>
                </a:solidFill>
                <a:latin typeface="Trebuchet MS" pitchFamily="34" charset="0"/>
                <a:ea typeface="Trebuchet MS" pitchFamily="34" charset="-122"/>
                <a:cs typeface="Trebuchet MS" pitchFamily="34" charset="-120"/>
              </a:rPr>
              <a:t>THE BACKGROUND</a:t>
            </a:r>
            <a:endParaRPr lang="en-US" sz="3200" dirty="0"/>
          </a:p>
        </p:txBody>
      </p:sp>
      <p:sp>
        <p:nvSpPr>
          <p:cNvPr id="4" name="Text 2"/>
          <p:cNvSpPr/>
          <p:nvPr/>
        </p:nvSpPr>
        <p:spPr>
          <a:xfrm>
            <a:off x="731520" y="914400"/>
            <a:ext cx="5486400" cy="365760"/>
          </a:xfrm>
          <a:prstGeom prst="rect">
            <a:avLst/>
          </a:prstGeom>
          <a:noFill/>
          <a:ln/>
        </p:spPr>
        <p:txBody>
          <a:bodyPr wrap="square" lIns="0" tIns="0" rIns="0" bIns="0" rtlCol="0" anchor="ctr"/>
          <a:lstStyle/>
          <a:p>
            <a:pPr indent="0" marL="0">
              <a:buNone/>
            </a:pPr>
            <a:r>
              <a:rPr lang="en-US" sz="1400" i="1" dirty="0">
                <a:solidFill>
                  <a:srgbClr val="7C7C8A"/>
                </a:solidFill>
                <a:latin typeface="Calibri" pitchFamily="34" charset="0"/>
                <a:ea typeface="Calibri" pitchFamily="34" charset="-122"/>
                <a:cs typeface="Calibri" pitchFamily="34" charset="-120"/>
              </a:rPr>
              <a:t>What makes this possible?</a:t>
            </a:r>
            <a:endParaRPr lang="en-US" sz="1400" dirty="0"/>
          </a:p>
        </p:txBody>
      </p:sp>
      <p:sp>
        <p:nvSpPr>
          <p:cNvPr id="5" name="Shape 3"/>
          <p:cNvSpPr/>
          <p:nvPr/>
        </p:nvSpPr>
        <p:spPr>
          <a:xfrm>
            <a:off x="731520" y="1554480"/>
            <a:ext cx="7680960" cy="9601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6" name="Shape 4"/>
          <p:cNvSpPr/>
          <p:nvPr/>
        </p:nvSpPr>
        <p:spPr>
          <a:xfrm>
            <a:off x="731520" y="1554480"/>
            <a:ext cx="91440" cy="960120"/>
          </a:xfrm>
          <a:prstGeom prst="rect">
            <a:avLst/>
          </a:prstGeom>
          <a:solidFill>
            <a:srgbClr val="E94560"/>
          </a:solidFill>
          <a:ln/>
        </p:spPr>
      </p:sp>
      <p:sp>
        <p:nvSpPr>
          <p:cNvPr id="7" name="Shape 5"/>
          <p:cNvSpPr/>
          <p:nvPr/>
        </p:nvSpPr>
        <p:spPr>
          <a:xfrm>
            <a:off x="1051560" y="1719072"/>
            <a:ext cx="548640" cy="548640"/>
          </a:xfrm>
          <a:prstGeom prst="ellipse">
            <a:avLst/>
          </a:prstGeom>
          <a:solidFill>
            <a:srgbClr val="E94560"/>
          </a:solidFill>
          <a:ln/>
        </p:spPr>
      </p:sp>
      <p:sp>
        <p:nvSpPr>
          <p:cNvPr id="8" name="Text 6"/>
          <p:cNvSpPr/>
          <p:nvPr/>
        </p:nvSpPr>
        <p:spPr>
          <a:xfrm>
            <a:off x="1051560" y="171907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1</a:t>
            </a:r>
            <a:endParaRPr lang="en-US" sz="1800" dirty="0"/>
          </a:p>
        </p:txBody>
      </p:sp>
      <p:sp>
        <p:nvSpPr>
          <p:cNvPr id="9" name="Text 7"/>
          <p:cNvSpPr/>
          <p:nvPr/>
        </p:nvSpPr>
        <p:spPr>
          <a:xfrm>
            <a:off x="1828800" y="1645920"/>
            <a:ext cx="5943600" cy="411480"/>
          </a:xfrm>
          <a:prstGeom prst="rect">
            <a:avLst/>
          </a:prstGeom>
          <a:noFill/>
          <a:ln/>
        </p:spPr>
        <p:txBody>
          <a:bodyPr wrap="square" lIns="0" tIns="0" rIns="0" bIns="0" rtlCol="0" anchor="ctr"/>
          <a:lstStyle/>
          <a:p>
            <a:pPr indent="0" marL="0">
              <a:buNone/>
            </a:pPr>
            <a:r>
              <a:rPr lang="en-US" sz="1600" b="1" dirty="0">
                <a:solidFill>
                  <a:srgbClr val="1A1A2E"/>
                </a:solidFill>
                <a:latin typeface="Trebuchet MS" pitchFamily="34" charset="0"/>
                <a:ea typeface="Trebuchet MS" pitchFamily="34" charset="-122"/>
                <a:cs typeface="Trebuchet MS" pitchFamily="34" charset="-120"/>
              </a:rPr>
              <a:t>Universal Information Access</a:t>
            </a:r>
            <a:endParaRPr lang="en-US" sz="1600" dirty="0"/>
          </a:p>
        </p:txBody>
      </p:sp>
      <p:sp>
        <p:nvSpPr>
          <p:cNvPr id="10" name="Text 8"/>
          <p:cNvSpPr/>
          <p:nvPr/>
        </p:nvSpPr>
        <p:spPr>
          <a:xfrm>
            <a:off x="1828800" y="2011680"/>
            <a:ext cx="5943600" cy="365760"/>
          </a:xfrm>
          <a:prstGeom prst="rect">
            <a:avLst/>
          </a:prstGeom>
          <a:noFill/>
          <a:ln/>
        </p:spPr>
        <p:txBody>
          <a:bodyPr wrap="square" lIns="0" tIns="0" rIns="0" bIns="0" rtlCol="0" anchor="ctr"/>
          <a:lstStyle/>
          <a:p>
            <a:pPr indent="0" marL="0">
              <a:buNone/>
            </a:pPr>
            <a:r>
              <a:rPr lang="en-US" sz="1300" dirty="0">
                <a:solidFill>
                  <a:srgbClr val="7C7C8A"/>
                </a:solidFill>
                <a:latin typeface="Calibri" pitchFamily="34" charset="0"/>
                <a:ea typeface="Calibri" pitchFamily="34" charset="-122"/>
                <a:cs typeface="Calibri" pitchFamily="34" charset="-120"/>
              </a:rPr>
              <a:t>OpenClaw lets you reference any information exactly when you need it.</a:t>
            </a:r>
            <a:endParaRPr lang="en-US" sz="1300" dirty="0"/>
          </a:p>
        </p:txBody>
      </p:sp>
      <p:sp>
        <p:nvSpPr>
          <p:cNvPr id="11" name="Shape 9"/>
          <p:cNvSpPr/>
          <p:nvPr/>
        </p:nvSpPr>
        <p:spPr>
          <a:xfrm>
            <a:off x="731520" y="2697480"/>
            <a:ext cx="7680960" cy="9601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2" name="Shape 10"/>
          <p:cNvSpPr/>
          <p:nvPr/>
        </p:nvSpPr>
        <p:spPr>
          <a:xfrm>
            <a:off x="731520" y="2697480"/>
            <a:ext cx="91440" cy="960120"/>
          </a:xfrm>
          <a:prstGeom prst="rect">
            <a:avLst/>
          </a:prstGeom>
          <a:solidFill>
            <a:srgbClr val="E94560"/>
          </a:solidFill>
          <a:ln/>
        </p:spPr>
      </p:sp>
      <p:sp>
        <p:nvSpPr>
          <p:cNvPr id="13" name="Shape 11"/>
          <p:cNvSpPr/>
          <p:nvPr/>
        </p:nvSpPr>
        <p:spPr>
          <a:xfrm>
            <a:off x="1051560" y="2862072"/>
            <a:ext cx="548640" cy="548640"/>
          </a:xfrm>
          <a:prstGeom prst="ellipse">
            <a:avLst/>
          </a:prstGeom>
          <a:solidFill>
            <a:srgbClr val="E94560"/>
          </a:solidFill>
          <a:ln/>
        </p:spPr>
      </p:sp>
      <p:sp>
        <p:nvSpPr>
          <p:cNvPr id="14" name="Text 12"/>
          <p:cNvSpPr/>
          <p:nvPr/>
        </p:nvSpPr>
        <p:spPr>
          <a:xfrm>
            <a:off x="1051560" y="286207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2</a:t>
            </a:r>
            <a:endParaRPr lang="en-US" sz="1800" dirty="0"/>
          </a:p>
        </p:txBody>
      </p:sp>
      <p:sp>
        <p:nvSpPr>
          <p:cNvPr id="15" name="Text 13"/>
          <p:cNvSpPr/>
          <p:nvPr/>
        </p:nvSpPr>
        <p:spPr>
          <a:xfrm>
            <a:off x="1828800" y="2788920"/>
            <a:ext cx="5943600" cy="411480"/>
          </a:xfrm>
          <a:prstGeom prst="rect">
            <a:avLst/>
          </a:prstGeom>
          <a:noFill/>
          <a:ln/>
        </p:spPr>
        <p:txBody>
          <a:bodyPr wrap="square" lIns="0" tIns="0" rIns="0" bIns="0" rtlCol="0" anchor="ctr"/>
          <a:lstStyle/>
          <a:p>
            <a:pPr indent="0" marL="0">
              <a:buNone/>
            </a:pPr>
            <a:r>
              <a:rPr lang="en-US" sz="1600" b="1" dirty="0">
                <a:solidFill>
                  <a:srgbClr val="1A1A2E"/>
                </a:solidFill>
                <a:latin typeface="Trebuchet MS" pitchFamily="34" charset="0"/>
                <a:ea typeface="Trebuchet MS" pitchFamily="34" charset="-122"/>
                <a:cs typeface="Trebuchet MS" pitchFamily="34" charset="-120"/>
              </a:rPr>
              <a:t>AI-Powered Data Retrieval</a:t>
            </a:r>
            <a:endParaRPr lang="en-US" sz="1600" dirty="0"/>
          </a:p>
        </p:txBody>
      </p:sp>
      <p:sp>
        <p:nvSpPr>
          <p:cNvPr id="16" name="Text 14"/>
          <p:cNvSpPr/>
          <p:nvPr/>
        </p:nvSpPr>
        <p:spPr>
          <a:xfrm>
            <a:off x="1828800" y="3154680"/>
            <a:ext cx="5943600" cy="365760"/>
          </a:xfrm>
          <a:prstGeom prst="rect">
            <a:avLst/>
          </a:prstGeom>
          <a:noFill/>
          <a:ln/>
        </p:spPr>
        <p:txBody>
          <a:bodyPr wrap="square" lIns="0" tIns="0" rIns="0" bIns="0" rtlCol="0" anchor="ctr"/>
          <a:lstStyle/>
          <a:p>
            <a:pPr indent="0" marL="0">
              <a:buNone/>
            </a:pPr>
            <a:r>
              <a:rPr lang="en-US" sz="1300" dirty="0">
                <a:solidFill>
                  <a:srgbClr val="7C7C8A"/>
                </a:solidFill>
                <a:latin typeface="Calibri" pitchFamily="34" charset="0"/>
                <a:ea typeface="Calibri" pitchFamily="34" charset="-122"/>
                <a:cs typeface="Calibri" pitchFamily="34" charset="-120"/>
              </a:rPr>
              <a:t>TiDB enables real-time data retrieval by AI, and Bright Data fetches live information from the web.</a:t>
            </a:r>
            <a:endParaRPr lang="en-US" sz="1300" dirty="0"/>
          </a:p>
        </p:txBody>
      </p:sp>
      <p:sp>
        <p:nvSpPr>
          <p:cNvPr id="17" name="Shape 15"/>
          <p:cNvSpPr/>
          <p:nvPr/>
        </p:nvSpPr>
        <p:spPr>
          <a:xfrm>
            <a:off x="731520" y="3840480"/>
            <a:ext cx="7680960" cy="9601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8" name="Shape 16"/>
          <p:cNvSpPr/>
          <p:nvPr/>
        </p:nvSpPr>
        <p:spPr>
          <a:xfrm>
            <a:off x="731520" y="3840480"/>
            <a:ext cx="91440" cy="960120"/>
          </a:xfrm>
          <a:prstGeom prst="rect">
            <a:avLst/>
          </a:prstGeom>
          <a:solidFill>
            <a:srgbClr val="E94560"/>
          </a:solidFill>
          <a:ln/>
        </p:spPr>
      </p:sp>
      <p:sp>
        <p:nvSpPr>
          <p:cNvPr id="19" name="Shape 17"/>
          <p:cNvSpPr/>
          <p:nvPr/>
        </p:nvSpPr>
        <p:spPr>
          <a:xfrm>
            <a:off x="1051560" y="4005072"/>
            <a:ext cx="548640" cy="548640"/>
          </a:xfrm>
          <a:prstGeom prst="ellipse">
            <a:avLst/>
          </a:prstGeom>
          <a:solidFill>
            <a:srgbClr val="E94560"/>
          </a:solidFill>
          <a:ln/>
        </p:spPr>
      </p:sp>
      <p:sp>
        <p:nvSpPr>
          <p:cNvPr id="20" name="Text 18"/>
          <p:cNvSpPr/>
          <p:nvPr/>
        </p:nvSpPr>
        <p:spPr>
          <a:xfrm>
            <a:off x="1051560" y="400507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3</a:t>
            </a:r>
            <a:endParaRPr lang="en-US" sz="1800" dirty="0"/>
          </a:p>
        </p:txBody>
      </p:sp>
      <p:sp>
        <p:nvSpPr>
          <p:cNvPr id="21" name="Text 19"/>
          <p:cNvSpPr/>
          <p:nvPr/>
        </p:nvSpPr>
        <p:spPr>
          <a:xfrm>
            <a:off x="1828800" y="3931920"/>
            <a:ext cx="5943600" cy="411480"/>
          </a:xfrm>
          <a:prstGeom prst="rect">
            <a:avLst/>
          </a:prstGeom>
          <a:noFill/>
          <a:ln/>
        </p:spPr>
        <p:txBody>
          <a:bodyPr wrap="square" lIns="0" tIns="0" rIns="0" bIns="0" rtlCol="0" anchor="ctr"/>
          <a:lstStyle/>
          <a:p>
            <a:pPr indent="0" marL="0">
              <a:buNone/>
            </a:pPr>
            <a:r>
              <a:rPr lang="en-US" sz="1600" b="1" dirty="0">
                <a:solidFill>
                  <a:srgbClr val="1A1A2E"/>
                </a:solidFill>
                <a:latin typeface="Trebuchet MS" pitchFamily="34" charset="0"/>
                <a:ea typeface="Trebuchet MS" pitchFamily="34" charset="-122"/>
                <a:cs typeface="Trebuchet MS" pitchFamily="34" charset="-120"/>
              </a:rPr>
              <a:t>Digital Person Replication</a:t>
            </a:r>
            <a:endParaRPr lang="en-US" sz="1600" dirty="0"/>
          </a:p>
        </p:txBody>
      </p:sp>
      <p:sp>
        <p:nvSpPr>
          <p:cNvPr id="22" name="Text 20"/>
          <p:cNvSpPr/>
          <p:nvPr/>
        </p:nvSpPr>
        <p:spPr>
          <a:xfrm>
            <a:off x="1828800" y="4297680"/>
            <a:ext cx="5943600" cy="365760"/>
          </a:xfrm>
          <a:prstGeom prst="rect">
            <a:avLst/>
          </a:prstGeom>
          <a:noFill/>
          <a:ln/>
        </p:spPr>
        <p:txBody>
          <a:bodyPr wrap="square" lIns="0" tIns="0" rIns="0" bIns="0" rtlCol="0" anchor="ctr"/>
          <a:lstStyle/>
          <a:p>
            <a:pPr indent="0" marL="0">
              <a:buNone/>
            </a:pPr>
            <a:r>
              <a:rPr lang="en-US" sz="1300" dirty="0">
                <a:solidFill>
                  <a:srgbClr val="7C7C8A"/>
                </a:solidFill>
                <a:latin typeface="Calibri" pitchFamily="34" charset="0"/>
                <a:ea typeface="Calibri" pitchFamily="34" charset="-122"/>
                <a:cs typeface="Calibri" pitchFamily="34" charset="-120"/>
              </a:rPr>
              <a:t>Combine these technologies to recreate a person's knowledge and perspective digitally.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2286000" y="274320"/>
            <a:ext cx="4572000" cy="4572000"/>
          </a:xfrm>
          <a:prstGeom prst="ellipse">
            <a:avLst/>
          </a:prstGeom>
          <a:solidFill>
            <a:srgbClr val="16213E"/>
          </a:solidFill>
          <a:ln/>
        </p:spPr>
      </p:sp>
      <p:sp>
        <p:nvSpPr>
          <p:cNvPr id="3" name="Shape 1"/>
          <p:cNvSpPr/>
          <p:nvPr/>
        </p:nvSpPr>
        <p:spPr>
          <a:xfrm>
            <a:off x="2743200" y="731520"/>
            <a:ext cx="3657600" cy="3657600"/>
          </a:xfrm>
          <a:prstGeom prst="ellipse">
            <a:avLst/>
          </a:prstGeom>
          <a:solidFill>
            <a:srgbClr val="E94560">
              <a:alpha val="15000"/>
            </a:srgbClr>
          </a:solidFill>
          <a:ln/>
        </p:spPr>
      </p:sp>
      <p:sp>
        <p:nvSpPr>
          <p:cNvPr id="4" name="Text 2"/>
          <p:cNvSpPr/>
          <p:nvPr/>
        </p:nvSpPr>
        <p:spPr>
          <a:xfrm>
            <a:off x="914400" y="1188720"/>
            <a:ext cx="7315200" cy="548640"/>
          </a:xfrm>
          <a:prstGeom prst="rect">
            <a:avLst/>
          </a:prstGeom>
          <a:noFill/>
          <a:ln/>
        </p:spPr>
        <p:txBody>
          <a:bodyPr wrap="square" lIns="0" tIns="0" rIns="0" bIns="0" rtlCol="0" anchor="ctr"/>
          <a:lstStyle/>
          <a:p>
            <a:pPr algn="ctr" indent="0" marL="0">
              <a:buNone/>
            </a:pPr>
            <a:r>
              <a:rPr lang="en-US" sz="1800" dirty="0">
                <a:solidFill>
                  <a:srgbClr val="7C7C8A"/>
                </a:solidFill>
                <a:latin typeface="Calibri" pitchFamily="34" charset="0"/>
                <a:ea typeface="Calibri" pitchFamily="34" charset="-122"/>
                <a:cs typeface="Calibri" pitchFamily="34" charset="-120"/>
              </a:rPr>
              <a:t>Introducing</a:t>
            </a:r>
            <a:endParaRPr lang="en-US" sz="1800" dirty="0"/>
          </a:p>
        </p:txBody>
      </p:sp>
      <p:sp>
        <p:nvSpPr>
          <p:cNvPr id="5" name="Text 3"/>
          <p:cNvSpPr/>
          <p:nvPr/>
        </p:nvSpPr>
        <p:spPr>
          <a:xfrm>
            <a:off x="914400" y="1737360"/>
            <a:ext cx="7315200" cy="1371600"/>
          </a:xfrm>
          <a:prstGeom prst="rect">
            <a:avLst/>
          </a:prstGeom>
          <a:noFill/>
          <a:ln/>
        </p:spPr>
        <p:txBody>
          <a:bodyPr wrap="square" lIns="0" tIns="0" rIns="0" bIns="0" rtlCol="0" anchor="ctr"/>
          <a:lstStyle/>
          <a:p>
            <a:pPr algn="ctr" indent="0" marL="0">
              <a:buNone/>
            </a:pPr>
            <a:r>
              <a:rPr lang="en-US" sz="6000" b="1" spc="600" kern="0" dirty="0">
                <a:solidFill>
                  <a:srgbClr val="FFFFFF"/>
                </a:solidFill>
                <a:latin typeface="Trebuchet MS" pitchFamily="34" charset="0"/>
                <a:ea typeface="Trebuchet MS" pitchFamily="34" charset="-122"/>
                <a:cs typeface="Trebuchet MS" pitchFamily="34" charset="-120"/>
              </a:rPr>
              <a:t>SUPER HALKI</a:t>
            </a:r>
            <a:endParaRPr lang="en-US" sz="6000" dirty="0"/>
          </a:p>
        </p:txBody>
      </p:sp>
      <p:sp>
        <p:nvSpPr>
          <p:cNvPr id="6" name="Shape 4"/>
          <p:cNvSpPr/>
          <p:nvPr/>
        </p:nvSpPr>
        <p:spPr>
          <a:xfrm>
            <a:off x="3474720" y="3200400"/>
            <a:ext cx="2194560" cy="36576"/>
          </a:xfrm>
          <a:prstGeom prst="rect">
            <a:avLst/>
          </a:prstGeom>
          <a:solidFill>
            <a:srgbClr val="E94560"/>
          </a:solidFill>
          <a:ln/>
        </p:spPr>
      </p:sp>
      <p:sp>
        <p:nvSpPr>
          <p:cNvPr id="7" name="Text 5"/>
          <p:cNvSpPr/>
          <p:nvPr/>
        </p:nvSpPr>
        <p:spPr>
          <a:xfrm>
            <a:off x="914400" y="3474720"/>
            <a:ext cx="7315200" cy="548640"/>
          </a:xfrm>
          <a:prstGeom prst="rect">
            <a:avLst/>
          </a:prstGeom>
          <a:noFill/>
          <a:ln/>
        </p:spPr>
        <p:txBody>
          <a:bodyPr wrap="square" lIns="0" tIns="0" rIns="0" bIns="0" rtlCol="0" anchor="ctr"/>
          <a:lstStyle/>
          <a:p>
            <a:pPr algn="ctr" indent="0" marL="0">
              <a:buNone/>
            </a:pPr>
            <a:r>
              <a:rPr lang="en-US" sz="2000" i="1" dirty="0">
                <a:solidFill>
                  <a:srgbClr val="E94560"/>
                </a:solidFill>
                <a:latin typeface="Calibri" pitchFamily="34" charset="0"/>
                <a:ea typeface="Calibri" pitchFamily="34" charset="-122"/>
                <a:cs typeface="Calibri" pitchFamily="34" charset="-120"/>
              </a:rPr>
              <a:t>Your AI Knowledge Twin</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4560"/>
          </a:solidFill>
          <a:ln/>
        </p:spPr>
      </p:sp>
      <p:sp>
        <p:nvSpPr>
          <p:cNvPr id="3" name="Text 1"/>
          <p:cNvSpPr/>
          <p:nvPr/>
        </p:nvSpPr>
        <p:spPr>
          <a:xfrm>
            <a:off x="731520" y="320040"/>
            <a:ext cx="7315200" cy="640080"/>
          </a:xfrm>
          <a:prstGeom prst="rect">
            <a:avLst/>
          </a:prstGeom>
          <a:noFill/>
          <a:ln/>
        </p:spPr>
        <p:txBody>
          <a:bodyPr wrap="square" lIns="0" tIns="0" rIns="0" bIns="0" rtlCol="0" anchor="ctr"/>
          <a:lstStyle/>
          <a:p>
            <a:pPr indent="0" marL="0">
              <a:buNone/>
            </a:pPr>
            <a:r>
              <a:rPr lang="en-US" sz="3200" b="1" dirty="0">
                <a:solidFill>
                  <a:srgbClr val="1A1A2E"/>
                </a:solidFill>
                <a:latin typeface="Trebuchet MS" pitchFamily="34" charset="0"/>
                <a:ea typeface="Trebuchet MS" pitchFamily="34" charset="-122"/>
                <a:cs typeface="Trebuchet MS" pitchFamily="34" charset="-120"/>
              </a:rPr>
              <a:t>HOW IT WORKS</a:t>
            </a:r>
            <a:endParaRPr lang="en-US" sz="3200" dirty="0"/>
          </a:p>
        </p:txBody>
      </p:sp>
      <p:sp>
        <p:nvSpPr>
          <p:cNvPr id="4" name="Text 2"/>
          <p:cNvSpPr/>
          <p:nvPr/>
        </p:nvSpPr>
        <p:spPr>
          <a:xfrm>
            <a:off x="731520" y="868680"/>
            <a:ext cx="5486400" cy="365760"/>
          </a:xfrm>
          <a:prstGeom prst="rect">
            <a:avLst/>
          </a:prstGeom>
          <a:noFill/>
          <a:ln/>
        </p:spPr>
        <p:txBody>
          <a:bodyPr wrap="square" lIns="0" tIns="0" rIns="0" bIns="0" rtlCol="0" anchor="ctr"/>
          <a:lstStyle/>
          <a:p>
            <a:pPr indent="0" marL="0">
              <a:buNone/>
            </a:pPr>
            <a:r>
              <a:rPr lang="en-US" sz="1400" i="1" dirty="0">
                <a:solidFill>
                  <a:srgbClr val="7C7C8A"/>
                </a:solidFill>
                <a:latin typeface="Calibri" pitchFamily="34" charset="0"/>
                <a:ea typeface="Calibri" pitchFamily="34" charset="-122"/>
                <a:cs typeface="Calibri" pitchFamily="34" charset="-120"/>
              </a:rPr>
              <a:t>Three simple steps to replicate knowledge</a:t>
            </a:r>
            <a:endParaRPr lang="en-US" sz="1400" dirty="0"/>
          </a:p>
        </p:txBody>
      </p:sp>
      <p:sp>
        <p:nvSpPr>
          <p:cNvPr id="5" name="Shape 3"/>
          <p:cNvSpPr/>
          <p:nvPr/>
        </p:nvSpPr>
        <p:spPr>
          <a:xfrm>
            <a:off x="457200" y="1554480"/>
            <a:ext cx="2468880" cy="292608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6" name="Shape 4"/>
          <p:cNvSpPr/>
          <p:nvPr/>
        </p:nvSpPr>
        <p:spPr>
          <a:xfrm>
            <a:off x="457200" y="1554480"/>
            <a:ext cx="2468880" cy="73152"/>
          </a:xfrm>
          <a:prstGeom prst="rect">
            <a:avLst/>
          </a:prstGeom>
          <a:solidFill>
            <a:srgbClr val="E94560"/>
          </a:solidFill>
          <a:ln/>
        </p:spPr>
      </p:sp>
      <p:sp>
        <p:nvSpPr>
          <p:cNvPr id="7" name="Shape 5"/>
          <p:cNvSpPr/>
          <p:nvPr/>
        </p:nvSpPr>
        <p:spPr>
          <a:xfrm>
            <a:off x="1325880" y="1874520"/>
            <a:ext cx="731520" cy="731520"/>
          </a:xfrm>
          <a:prstGeom prst="ellipse">
            <a:avLst/>
          </a:prstGeom>
          <a:solidFill>
            <a:srgbClr val="E94560"/>
          </a:solidFill>
          <a:ln/>
        </p:spPr>
      </p:sp>
      <p:sp>
        <p:nvSpPr>
          <p:cNvPr id="8" name="Text 6"/>
          <p:cNvSpPr/>
          <p:nvPr/>
        </p:nvSpPr>
        <p:spPr>
          <a:xfrm>
            <a:off x="1325880"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1</a:t>
            </a:r>
            <a:endParaRPr lang="en-US" sz="2800" dirty="0"/>
          </a:p>
        </p:txBody>
      </p:sp>
      <p:sp>
        <p:nvSpPr>
          <p:cNvPr id="9" name="Text 7"/>
          <p:cNvSpPr/>
          <p:nvPr/>
        </p:nvSpPr>
        <p:spPr>
          <a:xfrm>
            <a:off x="731520" y="2743200"/>
            <a:ext cx="1920240" cy="457200"/>
          </a:xfrm>
          <a:prstGeom prst="rect">
            <a:avLst/>
          </a:prstGeom>
          <a:noFill/>
          <a:ln/>
        </p:spPr>
        <p:txBody>
          <a:bodyPr wrap="square" lIns="0" tIns="0" rIns="0" bIns="0" rtlCol="0" anchor="ctr"/>
          <a:lstStyle/>
          <a:p>
            <a:pPr algn="ctr" indent="0" marL="0">
              <a:buNone/>
            </a:pPr>
            <a:r>
              <a:rPr lang="en-US" sz="1600" b="1" dirty="0">
                <a:solidFill>
                  <a:srgbClr val="1A1A2E"/>
                </a:solidFill>
                <a:latin typeface="Trebuchet MS" pitchFamily="34" charset="0"/>
                <a:ea typeface="Trebuchet MS" pitchFamily="34" charset="-122"/>
                <a:cs typeface="Trebuchet MS" pitchFamily="34" charset="-120"/>
              </a:rPr>
              <a:t>Share a URL</a:t>
            </a:r>
            <a:endParaRPr lang="en-US" sz="1600" dirty="0"/>
          </a:p>
        </p:txBody>
      </p:sp>
      <p:sp>
        <p:nvSpPr>
          <p:cNvPr id="10" name="Text 8"/>
          <p:cNvSpPr/>
          <p:nvPr/>
        </p:nvSpPr>
        <p:spPr>
          <a:xfrm>
            <a:off x="640080" y="3200400"/>
            <a:ext cx="2103120" cy="1097280"/>
          </a:xfrm>
          <a:prstGeom prst="rect">
            <a:avLst/>
          </a:prstGeom>
          <a:noFill/>
          <a:ln/>
        </p:spPr>
        <p:txBody>
          <a:bodyPr wrap="square" lIns="0" tIns="0" rIns="0" bIns="0" rtlCol="0" anchor="ctr"/>
          <a:lstStyle/>
          <a:p>
            <a:pPr algn="ctr" indent="0" marL="0">
              <a:buNone/>
            </a:pPr>
            <a:r>
              <a:rPr lang="en-US" sz="1200" dirty="0">
                <a:solidFill>
                  <a:srgbClr val="7C7C8A"/>
                </a:solidFill>
                <a:latin typeface="Calibri" pitchFamily="34" charset="0"/>
                <a:ea typeface="Calibri" pitchFamily="34" charset="-122"/>
                <a:cs typeface="Calibri" pitchFamily="34" charset="-120"/>
              </a:rPr>
              <a:t>Pass any URL to the AI, and it automatically fetches all the relevant data from that source.</a:t>
            </a:r>
            <a:endParaRPr lang="en-US" sz="1200" dirty="0"/>
          </a:p>
        </p:txBody>
      </p:sp>
      <p:sp>
        <p:nvSpPr>
          <p:cNvPr id="11" name="Shape 9"/>
          <p:cNvSpPr/>
          <p:nvPr/>
        </p:nvSpPr>
        <p:spPr>
          <a:xfrm>
            <a:off x="3063240" y="2834640"/>
            <a:ext cx="457200" cy="0"/>
          </a:xfrm>
          <a:prstGeom prst="line">
            <a:avLst/>
          </a:prstGeom>
          <a:noFill/>
          <a:ln w="31750">
            <a:solidFill>
              <a:srgbClr val="E94560"/>
            </a:solidFill>
            <a:prstDash val="solid"/>
          </a:ln>
        </p:spPr>
      </p:sp>
      <p:sp>
        <p:nvSpPr>
          <p:cNvPr id="12" name="Text 10"/>
          <p:cNvSpPr/>
          <p:nvPr/>
        </p:nvSpPr>
        <p:spPr>
          <a:xfrm>
            <a:off x="3337560" y="2651760"/>
            <a:ext cx="365760" cy="365760"/>
          </a:xfrm>
          <a:prstGeom prst="rect">
            <a:avLst/>
          </a:prstGeom>
          <a:noFill/>
          <a:ln/>
        </p:spPr>
        <p:txBody>
          <a:bodyPr wrap="square" lIns="0" tIns="0" rIns="0" bIns="0" rtlCol="0" anchor="ctr"/>
          <a:lstStyle/>
          <a:p>
            <a:pPr algn="ctr" indent="0" marL="0">
              <a:buNone/>
            </a:pPr>
            <a:r>
              <a:rPr lang="en-US" sz="1800" b="1" dirty="0">
                <a:solidFill>
                  <a:srgbClr val="E94560"/>
                </a:solidFill>
                <a:latin typeface="Calibri" pitchFamily="34" charset="0"/>
                <a:ea typeface="Calibri" pitchFamily="34" charset="-122"/>
                <a:cs typeface="Calibri" pitchFamily="34" charset="-120"/>
              </a:rPr>
              <a:t>&gt;</a:t>
            </a:r>
            <a:endParaRPr lang="en-US" sz="1800" dirty="0"/>
          </a:p>
        </p:txBody>
      </p:sp>
      <p:sp>
        <p:nvSpPr>
          <p:cNvPr id="13" name="Shape 11"/>
          <p:cNvSpPr/>
          <p:nvPr/>
        </p:nvSpPr>
        <p:spPr>
          <a:xfrm>
            <a:off x="3337560" y="1554480"/>
            <a:ext cx="2468880" cy="292608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4" name="Shape 12"/>
          <p:cNvSpPr/>
          <p:nvPr/>
        </p:nvSpPr>
        <p:spPr>
          <a:xfrm>
            <a:off x="3337560" y="1554480"/>
            <a:ext cx="2468880" cy="73152"/>
          </a:xfrm>
          <a:prstGeom prst="rect">
            <a:avLst/>
          </a:prstGeom>
          <a:solidFill>
            <a:srgbClr val="E94560"/>
          </a:solidFill>
          <a:ln/>
        </p:spPr>
      </p:sp>
      <p:sp>
        <p:nvSpPr>
          <p:cNvPr id="15" name="Shape 13"/>
          <p:cNvSpPr/>
          <p:nvPr/>
        </p:nvSpPr>
        <p:spPr>
          <a:xfrm>
            <a:off x="4206240" y="1874520"/>
            <a:ext cx="731520" cy="731520"/>
          </a:xfrm>
          <a:prstGeom prst="ellipse">
            <a:avLst/>
          </a:prstGeom>
          <a:solidFill>
            <a:srgbClr val="E94560"/>
          </a:solidFill>
          <a:ln/>
        </p:spPr>
      </p:sp>
      <p:sp>
        <p:nvSpPr>
          <p:cNvPr id="16" name="Text 14"/>
          <p:cNvSpPr/>
          <p:nvPr/>
        </p:nvSpPr>
        <p:spPr>
          <a:xfrm>
            <a:off x="4206240"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2</a:t>
            </a:r>
            <a:endParaRPr lang="en-US" sz="2800" dirty="0"/>
          </a:p>
        </p:txBody>
      </p:sp>
      <p:sp>
        <p:nvSpPr>
          <p:cNvPr id="17" name="Text 15"/>
          <p:cNvSpPr/>
          <p:nvPr/>
        </p:nvSpPr>
        <p:spPr>
          <a:xfrm>
            <a:off x="3520440" y="2743200"/>
            <a:ext cx="2103120" cy="457200"/>
          </a:xfrm>
          <a:prstGeom prst="rect">
            <a:avLst/>
          </a:prstGeom>
          <a:noFill/>
          <a:ln/>
        </p:spPr>
        <p:txBody>
          <a:bodyPr wrap="square" lIns="0" tIns="0" rIns="0" bIns="0" rtlCol="0" anchor="ctr"/>
          <a:lstStyle/>
          <a:p>
            <a:pPr algn="ctr" indent="0" marL="0">
              <a:buNone/>
            </a:pPr>
            <a:r>
              <a:rPr lang="en-US" sz="1600" b="1" dirty="0">
                <a:solidFill>
                  <a:srgbClr val="1A1A2E"/>
                </a:solidFill>
                <a:latin typeface="Trebuchet MS" pitchFamily="34" charset="0"/>
                <a:ea typeface="Trebuchet MS" pitchFamily="34" charset="-122"/>
                <a:cs typeface="Trebuchet MS" pitchFamily="34" charset="-120"/>
              </a:rPr>
              <a:t>Generate SOUL.md</a:t>
            </a:r>
            <a:endParaRPr lang="en-US" sz="1600" dirty="0"/>
          </a:p>
        </p:txBody>
      </p:sp>
      <p:sp>
        <p:nvSpPr>
          <p:cNvPr id="18" name="Text 16"/>
          <p:cNvSpPr/>
          <p:nvPr/>
        </p:nvSpPr>
        <p:spPr>
          <a:xfrm>
            <a:off x="3520440" y="3200400"/>
            <a:ext cx="2103120" cy="1097280"/>
          </a:xfrm>
          <a:prstGeom prst="rect">
            <a:avLst/>
          </a:prstGeom>
          <a:noFill/>
          <a:ln/>
        </p:spPr>
        <p:txBody>
          <a:bodyPr wrap="square" lIns="0" tIns="0" rIns="0" bIns="0" rtlCol="0" anchor="ctr"/>
          <a:lstStyle/>
          <a:p>
            <a:pPr algn="ctr" indent="0" marL="0">
              <a:buNone/>
            </a:pPr>
            <a:r>
              <a:rPr lang="en-US" sz="1200" dirty="0">
                <a:solidFill>
                  <a:srgbClr val="7C7C8A"/>
                </a:solidFill>
                <a:latin typeface="Calibri" pitchFamily="34" charset="0"/>
                <a:ea typeface="Calibri" pitchFamily="34" charset="-122"/>
                <a:cs typeface="Calibri" pitchFamily="34" charset="-120"/>
              </a:rPr>
              <a:t>The AI analyzes the data and automatically creates a SOUL.md file that captures the person's knowledge profile.</a:t>
            </a:r>
            <a:endParaRPr lang="en-US" sz="1200" dirty="0"/>
          </a:p>
        </p:txBody>
      </p:sp>
      <p:sp>
        <p:nvSpPr>
          <p:cNvPr id="19" name="Shape 17"/>
          <p:cNvSpPr/>
          <p:nvPr/>
        </p:nvSpPr>
        <p:spPr>
          <a:xfrm>
            <a:off x="5943600" y="2834640"/>
            <a:ext cx="457200" cy="0"/>
          </a:xfrm>
          <a:prstGeom prst="line">
            <a:avLst/>
          </a:prstGeom>
          <a:noFill/>
          <a:ln w="31750">
            <a:solidFill>
              <a:srgbClr val="E94560"/>
            </a:solidFill>
            <a:prstDash val="solid"/>
          </a:ln>
        </p:spPr>
      </p:sp>
      <p:sp>
        <p:nvSpPr>
          <p:cNvPr id="20" name="Text 18"/>
          <p:cNvSpPr/>
          <p:nvPr/>
        </p:nvSpPr>
        <p:spPr>
          <a:xfrm>
            <a:off x="6217920" y="2651760"/>
            <a:ext cx="365760" cy="365760"/>
          </a:xfrm>
          <a:prstGeom prst="rect">
            <a:avLst/>
          </a:prstGeom>
          <a:noFill/>
          <a:ln/>
        </p:spPr>
        <p:txBody>
          <a:bodyPr wrap="square" lIns="0" tIns="0" rIns="0" bIns="0" rtlCol="0" anchor="ctr"/>
          <a:lstStyle/>
          <a:p>
            <a:pPr algn="ctr" indent="0" marL="0">
              <a:buNone/>
            </a:pPr>
            <a:r>
              <a:rPr lang="en-US" sz="1800" b="1" dirty="0">
                <a:solidFill>
                  <a:srgbClr val="E94560"/>
                </a:solidFill>
                <a:latin typeface="Calibri" pitchFamily="34" charset="0"/>
                <a:ea typeface="Calibri" pitchFamily="34" charset="-122"/>
                <a:cs typeface="Calibri" pitchFamily="34" charset="-120"/>
              </a:rPr>
              <a:t>&gt;</a:t>
            </a:r>
            <a:endParaRPr lang="en-US" sz="1800" dirty="0"/>
          </a:p>
        </p:txBody>
      </p:sp>
      <p:sp>
        <p:nvSpPr>
          <p:cNvPr id="21" name="Shape 19"/>
          <p:cNvSpPr/>
          <p:nvPr/>
        </p:nvSpPr>
        <p:spPr>
          <a:xfrm>
            <a:off x="6217920" y="1554480"/>
            <a:ext cx="2468880" cy="292608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22" name="Shape 20"/>
          <p:cNvSpPr/>
          <p:nvPr/>
        </p:nvSpPr>
        <p:spPr>
          <a:xfrm>
            <a:off x="6217920" y="1554480"/>
            <a:ext cx="2468880" cy="73152"/>
          </a:xfrm>
          <a:prstGeom prst="rect">
            <a:avLst/>
          </a:prstGeom>
          <a:solidFill>
            <a:srgbClr val="E94560"/>
          </a:solidFill>
          <a:ln/>
        </p:spPr>
      </p:sp>
      <p:sp>
        <p:nvSpPr>
          <p:cNvPr id="23" name="Shape 21"/>
          <p:cNvSpPr/>
          <p:nvPr/>
        </p:nvSpPr>
        <p:spPr>
          <a:xfrm>
            <a:off x="7086600" y="1874520"/>
            <a:ext cx="731520" cy="731520"/>
          </a:xfrm>
          <a:prstGeom prst="ellipse">
            <a:avLst/>
          </a:prstGeom>
          <a:solidFill>
            <a:srgbClr val="E94560"/>
          </a:solidFill>
          <a:ln/>
        </p:spPr>
      </p:sp>
      <p:sp>
        <p:nvSpPr>
          <p:cNvPr id="24" name="Text 22"/>
          <p:cNvSpPr/>
          <p:nvPr/>
        </p:nvSpPr>
        <p:spPr>
          <a:xfrm>
            <a:off x="7086600"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3</a:t>
            </a:r>
            <a:endParaRPr lang="en-US" sz="2800" dirty="0"/>
          </a:p>
        </p:txBody>
      </p:sp>
      <p:sp>
        <p:nvSpPr>
          <p:cNvPr id="25" name="Text 23"/>
          <p:cNvSpPr/>
          <p:nvPr/>
        </p:nvSpPr>
        <p:spPr>
          <a:xfrm>
            <a:off x="6400800" y="2743200"/>
            <a:ext cx="2103120" cy="457200"/>
          </a:xfrm>
          <a:prstGeom prst="rect">
            <a:avLst/>
          </a:prstGeom>
          <a:noFill/>
          <a:ln/>
        </p:spPr>
        <p:txBody>
          <a:bodyPr wrap="square" lIns="0" tIns="0" rIns="0" bIns="0" rtlCol="0" anchor="ctr"/>
          <a:lstStyle/>
          <a:p>
            <a:pPr algn="ctr" indent="0" marL="0">
              <a:buNone/>
            </a:pPr>
            <a:r>
              <a:rPr lang="en-US" sz="1600" b="1" dirty="0">
                <a:solidFill>
                  <a:srgbClr val="1A1A2E"/>
                </a:solidFill>
                <a:latin typeface="Trebuchet MS" pitchFamily="34" charset="0"/>
                <a:ea typeface="Trebuchet MS" pitchFamily="34" charset="-122"/>
                <a:cs typeface="Trebuchet MS" pitchFamily="34" charset="-120"/>
              </a:rPr>
              <a:t>Chat as That Person</a:t>
            </a:r>
            <a:endParaRPr lang="en-US" sz="1600" dirty="0"/>
          </a:p>
        </p:txBody>
      </p:sp>
      <p:sp>
        <p:nvSpPr>
          <p:cNvPr id="26" name="Text 24"/>
          <p:cNvSpPr/>
          <p:nvPr/>
        </p:nvSpPr>
        <p:spPr>
          <a:xfrm>
            <a:off x="6400800" y="3200400"/>
            <a:ext cx="2103120" cy="1097280"/>
          </a:xfrm>
          <a:prstGeom prst="rect">
            <a:avLst/>
          </a:prstGeom>
          <a:noFill/>
          <a:ln/>
        </p:spPr>
        <p:txBody>
          <a:bodyPr wrap="square" lIns="0" tIns="0" rIns="0" bIns="0" rtlCol="0" anchor="ctr"/>
          <a:lstStyle/>
          <a:p>
            <a:pPr algn="ctr" indent="0" marL="0">
              <a:buNone/>
            </a:pPr>
            <a:r>
              <a:rPr lang="en-US" sz="1200" dirty="0">
                <a:solidFill>
                  <a:srgbClr val="7C7C8A"/>
                </a:solidFill>
                <a:latin typeface="Calibri" pitchFamily="34" charset="0"/>
                <a:ea typeface="Calibri" pitchFamily="34" charset="-122"/>
                <a:cs typeface="Calibri" pitchFamily="34" charset="-120"/>
              </a:rPr>
              <a:t>Using the SOUL.md profile, the AI responds as that person, giving you their authentic perspective.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94560"/>
          </a:solidFill>
          <a:ln/>
        </p:spPr>
      </p:sp>
      <p:sp>
        <p:nvSpPr>
          <p:cNvPr id="3" name="Text 1"/>
          <p:cNvSpPr/>
          <p:nvPr/>
        </p:nvSpPr>
        <p:spPr>
          <a:xfrm>
            <a:off x="731520" y="365760"/>
            <a:ext cx="7315200" cy="640080"/>
          </a:xfrm>
          <a:prstGeom prst="rect">
            <a:avLst/>
          </a:prstGeom>
          <a:noFill/>
          <a:ln/>
        </p:spPr>
        <p:txBody>
          <a:bodyPr wrap="square" lIns="0" tIns="0" rIns="0" bIns="0" rtlCol="0" anchor="ctr"/>
          <a:lstStyle/>
          <a:p>
            <a:pPr indent="0" marL="0">
              <a:buNone/>
            </a:pPr>
            <a:r>
              <a:rPr lang="en-US" sz="3200" b="1" dirty="0">
                <a:solidFill>
                  <a:srgbClr val="1A1A2E"/>
                </a:solidFill>
                <a:latin typeface="Trebuchet MS" pitchFamily="34" charset="0"/>
                <a:ea typeface="Trebuchet MS" pitchFamily="34" charset="-122"/>
                <a:cs typeface="Trebuchet MS" pitchFamily="34" charset="-120"/>
              </a:rPr>
              <a:t>WHY SUPER HALKI?</a:t>
            </a:r>
            <a:endParaRPr lang="en-US" sz="3200" dirty="0"/>
          </a:p>
        </p:txBody>
      </p:sp>
      <p:sp>
        <p:nvSpPr>
          <p:cNvPr id="4" name="Text 2"/>
          <p:cNvSpPr/>
          <p:nvPr/>
        </p:nvSpPr>
        <p:spPr>
          <a:xfrm>
            <a:off x="731520" y="914400"/>
            <a:ext cx="5486400" cy="365760"/>
          </a:xfrm>
          <a:prstGeom prst="rect">
            <a:avLst/>
          </a:prstGeom>
          <a:noFill/>
          <a:ln/>
        </p:spPr>
        <p:txBody>
          <a:bodyPr wrap="square" lIns="0" tIns="0" rIns="0" bIns="0" rtlCol="0" anchor="ctr"/>
          <a:lstStyle/>
          <a:p>
            <a:pPr indent="0" marL="0">
              <a:buNone/>
            </a:pPr>
            <a:r>
              <a:rPr lang="en-US" sz="1400" i="1" dirty="0">
                <a:solidFill>
                  <a:srgbClr val="7C7C8A"/>
                </a:solidFill>
                <a:latin typeface="Calibri" pitchFamily="34" charset="0"/>
                <a:ea typeface="Calibri" pitchFamily="34" charset="-122"/>
                <a:cs typeface="Calibri" pitchFamily="34" charset="-120"/>
              </a:rPr>
              <a:t>Real value for real use cases</a:t>
            </a:r>
            <a:endParaRPr lang="en-US" sz="1400" dirty="0"/>
          </a:p>
        </p:txBody>
      </p:sp>
      <p:sp>
        <p:nvSpPr>
          <p:cNvPr id="5" name="Shape 3"/>
          <p:cNvSpPr/>
          <p:nvPr/>
        </p:nvSpPr>
        <p:spPr>
          <a:xfrm>
            <a:off x="731520" y="1645920"/>
            <a:ext cx="3657600" cy="292608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6" name="Shape 4"/>
          <p:cNvSpPr/>
          <p:nvPr/>
        </p:nvSpPr>
        <p:spPr>
          <a:xfrm>
            <a:off x="731520" y="1645920"/>
            <a:ext cx="3657600" cy="73152"/>
          </a:xfrm>
          <a:prstGeom prst="rect">
            <a:avLst/>
          </a:prstGeom>
          <a:solidFill>
            <a:srgbClr val="E94560"/>
          </a:solidFill>
          <a:ln/>
        </p:spPr>
      </p:sp>
      <p:sp>
        <p:nvSpPr>
          <p:cNvPr id="7" name="Text 5"/>
          <p:cNvSpPr/>
          <p:nvPr/>
        </p:nvSpPr>
        <p:spPr>
          <a:xfrm>
            <a:off x="1097280" y="1920240"/>
            <a:ext cx="1097280" cy="822960"/>
          </a:xfrm>
          <a:prstGeom prst="rect">
            <a:avLst/>
          </a:prstGeom>
          <a:noFill/>
          <a:ln/>
        </p:spPr>
        <p:txBody>
          <a:bodyPr wrap="square" lIns="0" tIns="0" rIns="0" bIns="0" rtlCol="0" anchor="ctr"/>
          <a:lstStyle/>
          <a:p>
            <a:pPr indent="0" marL="0">
              <a:buNone/>
            </a:pPr>
            <a:r>
              <a:rPr lang="en-US" sz="4200" b="1" dirty="0">
                <a:solidFill>
                  <a:srgbClr val="F8D0D8"/>
                </a:solidFill>
                <a:latin typeface="Trebuchet MS" pitchFamily="34" charset="0"/>
                <a:ea typeface="Trebuchet MS" pitchFamily="34" charset="-122"/>
                <a:cs typeface="Trebuchet MS" pitchFamily="34" charset="-120"/>
              </a:rPr>
              <a:t>01</a:t>
            </a:r>
            <a:endParaRPr lang="en-US" sz="4200" dirty="0"/>
          </a:p>
        </p:txBody>
      </p:sp>
      <p:sp>
        <p:nvSpPr>
          <p:cNvPr id="8" name="Text 6"/>
          <p:cNvSpPr/>
          <p:nvPr/>
        </p:nvSpPr>
        <p:spPr>
          <a:xfrm>
            <a:off x="1097280" y="2651760"/>
            <a:ext cx="2926080" cy="731520"/>
          </a:xfrm>
          <a:prstGeom prst="rect">
            <a:avLst/>
          </a:prstGeom>
          <a:noFill/>
          <a:ln/>
        </p:spPr>
        <p:txBody>
          <a:bodyPr wrap="square" lIns="0" tIns="0" rIns="0" bIns="0" rtlCol="0" anchor="ctr"/>
          <a:lstStyle/>
          <a:p>
            <a:pPr indent="0" marL="0">
              <a:buNone/>
            </a:pPr>
            <a:r>
              <a:rPr lang="en-US" sz="1800" b="1" dirty="0">
                <a:solidFill>
                  <a:srgbClr val="1A1A2E"/>
                </a:solidFill>
                <a:latin typeface="Trebuchet MS" pitchFamily="34" charset="0"/>
                <a:ea typeface="Trebuchet MS" pitchFamily="34" charset="-122"/>
                <a:cs typeface="Trebuchet MS" pitchFamily="34" charset="-120"/>
              </a:rPr>
              <a:t>Instant Expertise</a:t>
            </a:r>
            <a:endParaRPr lang="en-US" sz="1800" dirty="0"/>
          </a:p>
          <a:p>
            <a:pPr indent="0" marL="0">
              <a:buNone/>
            </a:pPr>
            <a:r>
              <a:rPr lang="en-US" sz="1800" b="1" dirty="0">
                <a:solidFill>
                  <a:srgbClr val="1A1A2E"/>
                </a:solidFill>
                <a:latin typeface="Trebuchet MS" pitchFamily="34" charset="0"/>
                <a:ea typeface="Trebuchet MS" pitchFamily="34" charset="-122"/>
                <a:cs typeface="Trebuchet MS" pitchFamily="34" charset="-120"/>
              </a:rPr>
              <a:t>Access</a:t>
            </a:r>
            <a:endParaRPr lang="en-US" sz="1800" dirty="0"/>
          </a:p>
        </p:txBody>
      </p:sp>
      <p:sp>
        <p:nvSpPr>
          <p:cNvPr id="9" name="Text 7"/>
          <p:cNvSpPr/>
          <p:nvPr/>
        </p:nvSpPr>
        <p:spPr>
          <a:xfrm>
            <a:off x="1097280" y="3474720"/>
            <a:ext cx="2926080" cy="914400"/>
          </a:xfrm>
          <a:prstGeom prst="rect">
            <a:avLst/>
          </a:prstGeom>
          <a:noFill/>
          <a:ln/>
        </p:spPr>
        <p:txBody>
          <a:bodyPr wrap="square" lIns="0" tIns="0" rIns="0" bIns="0" rtlCol="0" anchor="ctr"/>
          <a:lstStyle/>
          <a:p>
            <a:pPr indent="0" marL="0">
              <a:buNone/>
            </a:pPr>
            <a:r>
              <a:rPr lang="en-US" sz="1300" dirty="0">
                <a:solidFill>
                  <a:srgbClr val="7C7C8A"/>
                </a:solidFill>
                <a:latin typeface="Calibri" pitchFamily="34" charset="0"/>
                <a:ea typeface="Calibri" pitchFamily="34" charset="-122"/>
                <a:cs typeface="Calibri" pitchFamily="34" charset="-120"/>
              </a:rPr>
              <a:t>When consulting with someone, you can instantly get first-hand information for simple questions without waiting for a response.</a:t>
            </a:r>
            <a:endParaRPr lang="en-US" sz="1300" dirty="0"/>
          </a:p>
        </p:txBody>
      </p:sp>
      <p:sp>
        <p:nvSpPr>
          <p:cNvPr id="10" name="Shape 8"/>
          <p:cNvSpPr/>
          <p:nvPr/>
        </p:nvSpPr>
        <p:spPr>
          <a:xfrm>
            <a:off x="4754880" y="1645920"/>
            <a:ext cx="3657600" cy="292608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1" name="Shape 9"/>
          <p:cNvSpPr/>
          <p:nvPr/>
        </p:nvSpPr>
        <p:spPr>
          <a:xfrm>
            <a:off x="4754880" y="1645920"/>
            <a:ext cx="3657600" cy="73152"/>
          </a:xfrm>
          <a:prstGeom prst="rect">
            <a:avLst/>
          </a:prstGeom>
          <a:solidFill>
            <a:srgbClr val="E94560"/>
          </a:solidFill>
          <a:ln/>
        </p:spPr>
      </p:sp>
      <p:sp>
        <p:nvSpPr>
          <p:cNvPr id="12" name="Text 10"/>
          <p:cNvSpPr/>
          <p:nvPr/>
        </p:nvSpPr>
        <p:spPr>
          <a:xfrm>
            <a:off x="5120640" y="1920240"/>
            <a:ext cx="1097280" cy="822960"/>
          </a:xfrm>
          <a:prstGeom prst="rect">
            <a:avLst/>
          </a:prstGeom>
          <a:noFill/>
          <a:ln/>
        </p:spPr>
        <p:txBody>
          <a:bodyPr wrap="square" lIns="0" tIns="0" rIns="0" bIns="0" rtlCol="0" anchor="ctr"/>
          <a:lstStyle/>
          <a:p>
            <a:pPr indent="0" marL="0">
              <a:buNone/>
            </a:pPr>
            <a:r>
              <a:rPr lang="en-US" sz="4200" b="1" dirty="0">
                <a:solidFill>
                  <a:srgbClr val="F8D0D8"/>
                </a:solidFill>
                <a:latin typeface="Trebuchet MS" pitchFamily="34" charset="0"/>
                <a:ea typeface="Trebuchet MS" pitchFamily="34" charset="-122"/>
                <a:cs typeface="Trebuchet MS" pitchFamily="34" charset="-120"/>
              </a:rPr>
              <a:t>02</a:t>
            </a:r>
            <a:endParaRPr lang="en-US" sz="4200" dirty="0"/>
          </a:p>
        </p:txBody>
      </p:sp>
      <p:sp>
        <p:nvSpPr>
          <p:cNvPr id="13" name="Text 11"/>
          <p:cNvSpPr/>
          <p:nvPr/>
        </p:nvSpPr>
        <p:spPr>
          <a:xfrm>
            <a:off x="5120640" y="2651760"/>
            <a:ext cx="2926080" cy="731520"/>
          </a:xfrm>
          <a:prstGeom prst="rect">
            <a:avLst/>
          </a:prstGeom>
          <a:noFill/>
          <a:ln/>
        </p:spPr>
        <p:txBody>
          <a:bodyPr wrap="square" lIns="0" tIns="0" rIns="0" bIns="0" rtlCol="0" anchor="ctr"/>
          <a:lstStyle/>
          <a:p>
            <a:pPr indent="0" marL="0">
              <a:buNone/>
            </a:pPr>
            <a:r>
              <a:rPr lang="en-US" sz="1800" b="1" dirty="0">
                <a:solidFill>
                  <a:srgbClr val="1A1A2E"/>
                </a:solidFill>
                <a:latin typeface="Trebuchet MS" pitchFamily="34" charset="0"/>
                <a:ea typeface="Trebuchet MS" pitchFamily="34" charset="-122"/>
                <a:cs typeface="Trebuchet MS" pitchFamily="34" charset="-120"/>
              </a:rPr>
              <a:t>User Perspective</a:t>
            </a:r>
            <a:endParaRPr lang="en-US" sz="1800" dirty="0"/>
          </a:p>
          <a:p>
            <a:pPr indent="0" marL="0">
              <a:buNone/>
            </a:pPr>
            <a:r>
              <a:rPr lang="en-US" sz="1800" b="1" dirty="0">
                <a:solidFill>
                  <a:srgbClr val="1A1A2E"/>
                </a:solidFill>
                <a:latin typeface="Trebuchet MS" pitchFamily="34" charset="0"/>
                <a:ea typeface="Trebuchet MS" pitchFamily="34" charset="-122"/>
                <a:cs typeface="Trebuchet MS" pitchFamily="34" charset="-120"/>
              </a:rPr>
              <a:t>Integration</a:t>
            </a:r>
            <a:endParaRPr lang="en-US" sz="1800" dirty="0"/>
          </a:p>
        </p:txBody>
      </p:sp>
      <p:sp>
        <p:nvSpPr>
          <p:cNvPr id="14" name="Text 12"/>
          <p:cNvSpPr/>
          <p:nvPr/>
        </p:nvSpPr>
        <p:spPr>
          <a:xfrm>
            <a:off x="5120640" y="3474720"/>
            <a:ext cx="2926080" cy="914400"/>
          </a:xfrm>
          <a:prstGeom prst="rect">
            <a:avLst/>
          </a:prstGeom>
          <a:noFill/>
          <a:ln/>
        </p:spPr>
        <p:txBody>
          <a:bodyPr wrap="square" lIns="0" tIns="0" rIns="0" bIns="0" rtlCol="0" anchor="ctr"/>
          <a:lstStyle/>
          <a:p>
            <a:pPr indent="0" marL="0">
              <a:buNone/>
            </a:pPr>
            <a:r>
              <a:rPr lang="en-US" sz="1300" dirty="0">
                <a:solidFill>
                  <a:srgbClr val="7C7C8A"/>
                </a:solidFill>
                <a:latin typeface="Calibri" pitchFamily="34" charset="0"/>
                <a:ea typeface="Calibri" pitchFamily="34" charset="-122"/>
                <a:cs typeface="Calibri" pitchFamily="34" charset="-120"/>
              </a:rPr>
              <a:t>Incorporate any user's viewpoint directly into your workflow through a natural chat interface, enriching your decision-making process.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914400" y="-914400"/>
            <a:ext cx="3657600" cy="3657600"/>
          </a:xfrm>
          <a:prstGeom prst="ellipse">
            <a:avLst/>
          </a:prstGeom>
          <a:solidFill>
            <a:srgbClr val="16213E"/>
          </a:solidFill>
          <a:ln/>
        </p:spPr>
      </p:sp>
      <p:sp>
        <p:nvSpPr>
          <p:cNvPr id="3" name="Shape 1"/>
          <p:cNvSpPr/>
          <p:nvPr/>
        </p:nvSpPr>
        <p:spPr>
          <a:xfrm>
            <a:off x="6858000" y="2743200"/>
            <a:ext cx="3657600" cy="3657600"/>
          </a:xfrm>
          <a:prstGeom prst="ellipse">
            <a:avLst/>
          </a:prstGeom>
          <a:solidFill>
            <a:srgbClr val="E94560">
              <a:alpha val="20000"/>
            </a:srgbClr>
          </a:solidFill>
          <a:ln/>
        </p:spPr>
      </p:sp>
      <p:sp>
        <p:nvSpPr>
          <p:cNvPr id="4" name="Shape 2"/>
          <p:cNvSpPr/>
          <p:nvPr/>
        </p:nvSpPr>
        <p:spPr>
          <a:xfrm>
            <a:off x="0" y="5029200"/>
            <a:ext cx="9144000" cy="109728"/>
          </a:xfrm>
          <a:prstGeom prst="rect">
            <a:avLst/>
          </a:prstGeom>
          <a:solidFill>
            <a:srgbClr val="E94560"/>
          </a:solidFill>
          <a:ln/>
        </p:spPr>
      </p:sp>
      <p:sp>
        <p:nvSpPr>
          <p:cNvPr id="5" name="Text 3"/>
          <p:cNvSpPr/>
          <p:nvPr/>
        </p:nvSpPr>
        <p:spPr>
          <a:xfrm>
            <a:off x="914400" y="1371600"/>
            <a:ext cx="7315200" cy="1188720"/>
          </a:xfrm>
          <a:prstGeom prst="rect">
            <a:avLst/>
          </a:prstGeom>
          <a:noFill/>
          <a:ln/>
        </p:spPr>
        <p:txBody>
          <a:bodyPr wrap="square" lIns="0" tIns="0" rIns="0" bIns="0" rtlCol="0" anchor="ctr"/>
          <a:lstStyle/>
          <a:p>
            <a:pPr algn="ctr" indent="0" marL="0">
              <a:buNone/>
            </a:pPr>
            <a:r>
              <a:rPr lang="en-US" sz="5200" b="1" spc="600" kern="0" dirty="0">
                <a:solidFill>
                  <a:srgbClr val="FFFFFF"/>
                </a:solidFill>
                <a:latin typeface="Trebuchet MS" pitchFamily="34" charset="0"/>
                <a:ea typeface="Trebuchet MS" pitchFamily="34" charset="-122"/>
                <a:cs typeface="Trebuchet MS" pitchFamily="34" charset="-120"/>
              </a:rPr>
              <a:t>THANK YOU</a:t>
            </a:r>
            <a:endParaRPr lang="en-US" sz="5200" dirty="0"/>
          </a:p>
        </p:txBody>
      </p:sp>
      <p:sp>
        <p:nvSpPr>
          <p:cNvPr id="6" name="Shape 4"/>
          <p:cNvSpPr/>
          <p:nvPr/>
        </p:nvSpPr>
        <p:spPr>
          <a:xfrm>
            <a:off x="3474720" y="2651760"/>
            <a:ext cx="2194560" cy="36576"/>
          </a:xfrm>
          <a:prstGeom prst="rect">
            <a:avLst/>
          </a:prstGeom>
          <a:solidFill>
            <a:srgbClr val="E94560"/>
          </a:solidFill>
          <a:ln/>
        </p:spPr>
      </p:sp>
      <p:sp>
        <p:nvSpPr>
          <p:cNvPr id="7" name="Text 5"/>
          <p:cNvSpPr/>
          <p:nvPr/>
        </p:nvSpPr>
        <p:spPr>
          <a:xfrm>
            <a:off x="914400" y="2926080"/>
            <a:ext cx="7315200" cy="548640"/>
          </a:xfrm>
          <a:prstGeom prst="rect">
            <a:avLst/>
          </a:prstGeom>
          <a:noFill/>
          <a:ln/>
        </p:spPr>
        <p:txBody>
          <a:bodyPr wrap="square" lIns="0" tIns="0" rIns="0" bIns="0" rtlCol="0" anchor="ctr"/>
          <a:lstStyle/>
          <a:p>
            <a:pPr algn="ctr" indent="0" marL="0">
              <a:buNone/>
            </a:pPr>
            <a:r>
              <a:rPr lang="en-US" sz="2000" dirty="0">
                <a:solidFill>
                  <a:srgbClr val="E94560"/>
                </a:solidFill>
                <a:latin typeface="Calibri" pitchFamily="34" charset="0"/>
                <a:ea typeface="Calibri" pitchFamily="34" charset="-122"/>
                <a:cs typeface="Calibri" pitchFamily="34" charset="-120"/>
              </a:rPr>
              <a:t>Team Super Halki</a:t>
            </a:r>
            <a:endParaRPr lang="en-US" sz="2000" dirty="0"/>
          </a:p>
        </p:txBody>
      </p:sp>
      <p:sp>
        <p:nvSpPr>
          <p:cNvPr id="8" name="Text 6"/>
          <p:cNvSpPr/>
          <p:nvPr/>
        </p:nvSpPr>
        <p:spPr>
          <a:xfrm>
            <a:off x="914400" y="3840480"/>
            <a:ext cx="7315200" cy="457200"/>
          </a:xfrm>
          <a:prstGeom prst="rect">
            <a:avLst/>
          </a:prstGeom>
          <a:noFill/>
          <a:ln/>
        </p:spPr>
        <p:txBody>
          <a:bodyPr wrap="square" lIns="0" tIns="0" rIns="0" bIns="0" rtlCol="0" anchor="ctr"/>
          <a:lstStyle/>
          <a:p>
            <a:pPr algn="ctr" indent="0" marL="0">
              <a:buNone/>
            </a:pPr>
            <a:r>
              <a:rPr lang="en-US" sz="1600" i="1" dirty="0">
                <a:solidFill>
                  <a:srgbClr val="7C7C8A"/>
                </a:solidFill>
                <a:latin typeface="Calibri" pitchFamily="34" charset="0"/>
                <a:ea typeface="Calibri" pitchFamily="34" charset="-122"/>
                <a:cs typeface="Calibri" pitchFamily="34" charset="-120"/>
              </a:rPr>
              <a:t>Questions?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 Halki - AI-Powered Person Replication</dc:title>
  <dc:subject>PptxGenJS Presentation</dc:subject>
  <dc:creator>Team Super Halki</dc:creator>
  <cp:lastModifiedBy>Team Super Halki</cp:lastModifiedBy>
  <cp:revision>1</cp:revision>
  <dcterms:created xsi:type="dcterms:W3CDTF">2026-04-07T07:22:57Z</dcterms:created>
  <dcterms:modified xsi:type="dcterms:W3CDTF">2026-04-07T07:22:57Z</dcterms:modified>
</cp:coreProperties>
</file>